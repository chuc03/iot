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0794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9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jpeg"/><Relationship Id="rId4" Type="http://schemas.openxmlformats.org/officeDocument/2006/relationships/image" Target="../media/image3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jpeg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10.png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9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669280" cy="5669280"/>
          </a:xfrm>
          <a:prstGeom prst="ellipse">
            <a:avLst/>
          </a:prstGeom>
          <a:solidFill>
            <a:srgbClr val="16395D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4206240" cy="4206240"/>
          </a:xfrm>
          <a:prstGeom prst="ellipse">
            <a:avLst/>
          </a:prstGeom>
          <a:solidFill>
            <a:srgbClr val="1E4A7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02920"/>
            <a:ext cx="914400" cy="11155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CF3"/>
            </a:solidFill>
            <a:prstDash val="solid"/>
          </a:ln>
        </p:spPr>
      </p:sp>
      <p:pic>
        <p:nvPicPr>
          <p:cNvPr id="5" name="Image 0" descr="img/image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9808" y="576072"/>
            <a:ext cx="694944" cy="9692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62179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VIỆN CÔNG NGHỆ BƯU CHÍNH VIỄN THÔNG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737360" y="95097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5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KHOA CÔNG NGHỆ THÔNG TIN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685800" y="233172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· MÔN IOT VÀ ỨNG DỤNG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640080" y="26974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bạt che thông minh</a:t>
            </a:r>
            <a:endParaRPr lang="en-US" sz="4600" dirty="0"/>
          </a:p>
        </p:txBody>
      </p:sp>
      <p:sp>
        <p:nvSpPr>
          <p:cNvPr id="18" name="Text 11"/>
          <p:cNvSpPr/>
          <p:nvPr/>
        </p:nvSpPr>
        <p:spPr>
          <a:xfrm>
            <a:off x="658368" y="3611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 dụng </a:t>
            </a:r>
            <a:r>
              <a:rPr lang="en-US" sz="27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r>
              <a:rPr lang="en-US" sz="2700" b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&amp;  </a:t>
            </a:r>
            <a:r>
              <a:rPr lang="en-US" sz="2700" b="1" dirty="0">
                <a:solidFill>
                  <a:srgbClr val="5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ThingsBoard Cloud</a:t>
            </a:r>
            <a:endParaRPr lang="en-US" sz="2700" dirty="0"/>
          </a:p>
        </p:txBody>
      </p:sp>
      <p:sp>
        <p:nvSpPr>
          <p:cNvPr id="19" name="Shape 12"/>
          <p:cNvSpPr/>
          <p:nvPr/>
        </p:nvSpPr>
        <p:spPr>
          <a:xfrm>
            <a:off x="640080" y="4983480"/>
            <a:ext cx="3246120" cy="841248"/>
          </a:xfrm>
          <a:prstGeom prst="roundRect">
            <a:avLst>
              <a:gd name="adj" fmla="val 9783"/>
            </a:avLst>
          </a:prstGeom>
          <a:solidFill>
            <a:srgbClr val="16395D"/>
          </a:solidFill>
          <a:ln w="12700">
            <a:solidFill>
              <a:srgbClr val="E2ECF3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841248" y="512978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5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 HƯỚNG DẪN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841248" y="536752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Tài Tuyên</a:t>
            </a:r>
            <a:endParaRPr lang="en-US" sz="1600" dirty="0"/>
          </a:p>
        </p:txBody>
      </p:sp>
      <p:sp>
        <p:nvSpPr>
          <p:cNvPr id="22" name="Shape 15"/>
          <p:cNvSpPr/>
          <p:nvPr/>
        </p:nvSpPr>
        <p:spPr>
          <a:xfrm>
            <a:off x="4160520" y="4983480"/>
            <a:ext cx="3246120" cy="841248"/>
          </a:xfrm>
          <a:prstGeom prst="roundRect">
            <a:avLst>
              <a:gd name="adj" fmla="val 9783"/>
            </a:avLst>
          </a:prstGeom>
          <a:solidFill>
            <a:srgbClr val="16395D"/>
          </a:solidFill>
          <a:ln w="12700">
            <a:solidFill>
              <a:srgbClr val="E2ECF3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4361688" y="512978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5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SINH VIÊN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4361688" y="536752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22</a:t>
            </a:r>
            <a:endParaRPr lang="en-US" sz="1600" dirty="0"/>
          </a:p>
        </p:txBody>
      </p:sp>
      <p:sp>
        <p:nvSpPr>
          <p:cNvPr id="25" name="Shape 18"/>
          <p:cNvSpPr/>
          <p:nvPr/>
        </p:nvSpPr>
        <p:spPr>
          <a:xfrm>
            <a:off x="7680960" y="4983480"/>
            <a:ext cx="3246120" cy="841248"/>
          </a:xfrm>
          <a:prstGeom prst="roundRect">
            <a:avLst>
              <a:gd name="adj" fmla="val 9783"/>
            </a:avLst>
          </a:prstGeom>
          <a:solidFill>
            <a:srgbClr val="16395D"/>
          </a:solidFill>
          <a:ln w="12700">
            <a:solidFill>
              <a:srgbClr val="E2ECF3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82128" y="512978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5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7882128" y="536752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D22VHCNPM01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658368" y="598932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 viên:  </a:t>
            </a:r>
            <a:r>
              <a:rPr lang="en-US" sz="1300" dirty="0">
                <a:solidFill>
                  <a:srgbClr val="E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Đoàn Văn Chức (B22DVCN039)   ·   Vũ Hoàng Tuấn Kiệt (B22DVCN187)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658368" y="63276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5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phần chính của báo cáo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16395D"/>
          </a:solidFill>
          <a:ln w="12700">
            <a:solidFill>
              <a:srgbClr val="E2EC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822960" cy="822960"/>
          </a:xfrm>
          <a:prstGeom prst="ellipse">
            <a:avLst/>
          </a:prstGeom>
          <a:solidFill>
            <a:srgbClr val="F2A33C"/>
          </a:solidFill>
          <a:ln/>
        </p:spPr>
      </p:sp>
      <p:pic>
        <p:nvPicPr>
          <p:cNvPr id="6" name="Image 0" descr="icons/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59" y="2096719"/>
            <a:ext cx="378562" cy="3785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10328" y="174650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E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847088" y="1874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</a:t>
            </a: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thiệu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847088" y="23500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BD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vấn đề, giải pháp và mục tiêu nghiên cứu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36208" y="160020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16395D"/>
          </a:solidFill>
          <a:ln w="12700">
            <a:solidFill>
              <a:srgbClr val="E2ECF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92240" y="1874520"/>
            <a:ext cx="822960" cy="822960"/>
          </a:xfrm>
          <a:prstGeom prst="ellipse">
            <a:avLst/>
          </a:prstGeom>
          <a:solidFill>
            <a:srgbClr val="1497AC"/>
          </a:solidFill>
          <a:ln/>
        </p:spPr>
      </p:sp>
      <p:pic>
        <p:nvPicPr>
          <p:cNvPr id="12" name="Image 1" descr="icons/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4439" y="2096719"/>
            <a:ext cx="378562" cy="3785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79608" y="174650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E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7516368" y="1874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hệ thống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7516368" y="23500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BD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khối, linh kiện và kiến trúc 3 lớp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66928" y="3282696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16395D"/>
          </a:solidFill>
          <a:ln w="12700">
            <a:solidFill>
              <a:srgbClr val="E2ECF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2960" y="3557016"/>
            <a:ext cx="822960" cy="822960"/>
          </a:xfrm>
          <a:prstGeom prst="ellipse">
            <a:avLst/>
          </a:prstGeom>
          <a:solidFill>
            <a:srgbClr val="1E4A73"/>
          </a:solidFill>
          <a:ln/>
        </p:spPr>
      </p:sp>
      <p:pic>
        <p:nvPicPr>
          <p:cNvPr id="18" name="Image 2" descr="icons/co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159" y="3779215"/>
            <a:ext cx="378562" cy="37856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10328" y="3429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E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1847088" y="355701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</a:t>
            </a: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</a:t>
            </a: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vi-VN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1847088" y="403250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BD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Đấu nối GPIO, FreeRTOS và thuật toán AUTO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236208" y="3282696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16395D"/>
          </a:solidFill>
          <a:ln w="12700">
            <a:solidFill>
              <a:srgbClr val="E2ECF3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492240" y="3557016"/>
            <a:ext cx="822960" cy="822960"/>
          </a:xfrm>
          <a:prstGeom prst="ellipse">
            <a:avLst/>
          </a:prstGeom>
          <a:solidFill>
            <a:srgbClr val="2BA86F"/>
          </a:solidFill>
          <a:ln/>
        </p:spPr>
      </p:sp>
      <p:pic>
        <p:nvPicPr>
          <p:cNvPr id="24" name="Image 3" descr="icons/clip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4439" y="3779215"/>
            <a:ext cx="378562" cy="37856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579608" y="3429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E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26" name="Text 20"/>
          <p:cNvSpPr/>
          <p:nvPr/>
        </p:nvSpPr>
        <p:spPr>
          <a:xfrm>
            <a:off x="7516368" y="355701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&amp; Kiểm thử</a:t>
            </a:r>
            <a:endParaRPr lang="en-US" sz="1650" dirty="0"/>
          </a:p>
        </p:txBody>
      </p:sp>
      <p:sp>
        <p:nvSpPr>
          <p:cNvPr id="27" name="Text 21"/>
          <p:cNvSpPr/>
          <p:nvPr/>
        </p:nvSpPr>
        <p:spPr>
          <a:xfrm>
            <a:off x="7516368" y="403250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BD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Monitor, cảnh báo và bảng kiểm thử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566928" y="4965192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16395D"/>
          </a:solidFill>
          <a:ln w="12700">
            <a:solidFill>
              <a:srgbClr val="E2ECF3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22960" y="5239512"/>
            <a:ext cx="822960" cy="822960"/>
          </a:xfrm>
          <a:prstGeom prst="ellipse">
            <a:avLst/>
          </a:prstGeom>
          <a:solidFill>
            <a:srgbClr val="0E7A8C"/>
          </a:solidFill>
          <a:ln/>
        </p:spPr>
      </p:sp>
      <p:pic>
        <p:nvPicPr>
          <p:cNvPr id="30" name="Image 4" descr="icons/thumbsu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5159" y="5461711"/>
            <a:ext cx="378562" cy="37856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910328" y="511149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E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32" name="Text 25"/>
          <p:cNvSpPr/>
          <p:nvPr/>
        </p:nvSpPr>
        <p:spPr>
          <a:xfrm>
            <a:off x="1847088" y="52395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</a:t>
            </a:r>
            <a:endParaRPr lang="en-US" sz="1650" dirty="0"/>
          </a:p>
        </p:txBody>
      </p:sp>
      <p:sp>
        <p:nvSpPr>
          <p:cNvPr id="33" name="Text 26"/>
          <p:cNvSpPr/>
          <p:nvPr/>
        </p:nvSpPr>
        <p:spPr>
          <a:xfrm>
            <a:off x="1847088" y="5715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BD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điểm và nhược điểm của hệ thống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6236208" y="4965192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16395D"/>
          </a:solidFill>
          <a:ln w="12700">
            <a:solidFill>
              <a:srgbClr val="E2ECF3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492240" y="5239512"/>
            <a:ext cx="822960" cy="822960"/>
          </a:xfrm>
          <a:prstGeom prst="ellipse">
            <a:avLst/>
          </a:prstGeom>
          <a:solidFill>
            <a:srgbClr val="D98824"/>
          </a:solidFill>
          <a:ln/>
        </p:spPr>
      </p:sp>
      <p:pic>
        <p:nvPicPr>
          <p:cNvPr id="36" name="Image 5" descr="icons/rocke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4439" y="5461711"/>
            <a:ext cx="378562" cy="37856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579608" y="511149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E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000" dirty="0"/>
          </a:p>
        </p:txBody>
      </p:sp>
      <p:sp>
        <p:nvSpPr>
          <p:cNvPr id="38" name="Text 30"/>
          <p:cNvSpPr/>
          <p:nvPr/>
        </p:nvSpPr>
        <p:spPr>
          <a:xfrm>
            <a:off x="7516368" y="52395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</a:t>
            </a:r>
            <a:endParaRPr lang="en-US" sz="1650" dirty="0"/>
          </a:p>
        </p:txBody>
      </p:sp>
      <p:sp>
        <p:nvSpPr>
          <p:cNvPr id="39" name="Text 31"/>
          <p:cNvSpPr/>
          <p:nvPr/>
        </p:nvSpPr>
        <p:spPr>
          <a:xfrm>
            <a:off x="7516368" y="5715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BD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hướng nâng cấp và triển khai thực tế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1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 · GIỚI THIỆU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vấn đề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6400800" cy="932688"/>
          </a:xfrm>
          <a:prstGeom prst="roundRect">
            <a:avLst>
              <a:gd name="adj" fmla="val 8824"/>
            </a:avLst>
          </a:prstGeom>
          <a:solidFill>
            <a:srgbClr val="F4F8FB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55648"/>
            <a:ext cx="530352" cy="530352"/>
          </a:xfrm>
          <a:prstGeom prst="ellipse">
            <a:avLst/>
          </a:prstGeom>
          <a:solidFill>
            <a:srgbClr val="1497AC"/>
          </a:solidFill>
          <a:ln/>
        </p:spPr>
      </p:sp>
      <p:pic>
        <p:nvPicPr>
          <p:cNvPr id="6" name="Image 0" descr="icons/h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867" y="1898843"/>
            <a:ext cx="243962" cy="2439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27048" y="1700784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 thuộc người dùng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27048" y="20116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Mái che thủ công cần có người trực tiếp đóng/mở.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" y="2633472"/>
            <a:ext cx="6400800" cy="932688"/>
          </a:xfrm>
          <a:prstGeom prst="roundRect">
            <a:avLst>
              <a:gd name="adj" fmla="val 8824"/>
            </a:avLst>
          </a:prstGeom>
          <a:solidFill>
            <a:srgbClr val="F4F8FB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04672" y="2834640"/>
            <a:ext cx="530352" cy="530352"/>
          </a:xfrm>
          <a:prstGeom prst="ellipse">
            <a:avLst/>
          </a:prstGeom>
          <a:solidFill>
            <a:srgbClr val="1497AC"/>
          </a:solidFill>
          <a:ln/>
        </p:spPr>
      </p:sp>
      <p:pic>
        <p:nvPicPr>
          <p:cNvPr id="11" name="Image 1" descr="icons/sy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867" y="2977835"/>
            <a:ext cx="243962" cy="2439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27048" y="277977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Phản ứng chậm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527048" y="309067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kịp xử lý khi thời tiết thay đổi đột ngột.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66928" y="3712464"/>
            <a:ext cx="6400800" cy="932688"/>
          </a:xfrm>
          <a:prstGeom prst="roundRect">
            <a:avLst>
              <a:gd name="adj" fmla="val 8824"/>
            </a:avLst>
          </a:prstGeom>
          <a:solidFill>
            <a:srgbClr val="F4F8FB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913632"/>
            <a:ext cx="530352" cy="530352"/>
          </a:xfrm>
          <a:prstGeom prst="ellipse">
            <a:avLst/>
          </a:prstGeom>
          <a:solidFill>
            <a:srgbClr val="CF5B52"/>
          </a:solidFill>
          <a:ln/>
        </p:spPr>
      </p:sp>
      <p:pic>
        <p:nvPicPr>
          <p:cNvPr id="16" name="Image 2" descr="icons/war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867" y="4056827"/>
            <a:ext cx="243962" cy="2439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27048" y="385876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 hư hỏng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27048" y="416966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Gặp gió to mà vắng người dễ làm rách, hỏng bạt che.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527048" y="5010912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7360920" y="1554480"/>
            <a:ext cx="4261104" cy="4608576"/>
          </a:xfrm>
          <a:prstGeom prst="roundRect">
            <a:avLst>
              <a:gd name="adj" fmla="val 1931"/>
            </a:avLst>
          </a:prstGeom>
          <a:solidFill>
            <a:srgbClr val="0E2A47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680960" y="1920240"/>
            <a:ext cx="868680" cy="868680"/>
          </a:xfrm>
          <a:prstGeom prst="ellipse">
            <a:avLst/>
          </a:prstGeom>
          <a:solidFill>
            <a:srgbClr val="1497AC"/>
          </a:solidFill>
          <a:ln/>
        </p:spPr>
      </p:sp>
      <p:pic>
        <p:nvPicPr>
          <p:cNvPr id="25" name="Image 4" descr="icons/clo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5504" y="2154784"/>
            <a:ext cx="399593" cy="39959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80960" y="2926080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giải quyết</a:t>
            </a:r>
            <a:endParaRPr lang="en-US" sz="1900" dirty="0"/>
          </a:p>
        </p:txBody>
      </p:sp>
      <p:sp>
        <p:nvSpPr>
          <p:cNvPr id="27" name="Text 20"/>
          <p:cNvSpPr/>
          <p:nvPr/>
        </p:nvSpPr>
        <p:spPr>
          <a:xfrm>
            <a:off x="7680960" y="3383280"/>
            <a:ext cx="36210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5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+ MQTT / MQTTS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bị tự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cảm biến và gửi dữ liệu lên cloud</a:t>
            </a:r>
            <a:r>
              <a:rPr lang="en-US" sz="135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đồng thời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lệnh điều khiển từ xa</a:t>
            </a:r>
            <a:r>
              <a:rPr lang="en-US" sz="135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mà không cần xây dựng một máy chủ riêng phức tạp.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7680960" y="5074920"/>
            <a:ext cx="3621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đo ánh sáng · mưa · gió → tự động mở/đóng theo thuật toán, bảo vệ động cơ bằng công tắc hành trình và hiển thị trạng thái trên ThingsBoard Cloud.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113230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1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 · GIỚI THIỆU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 giải pháp — 3 phần chính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529584" cy="4434840"/>
          </a:xfrm>
          <a:prstGeom prst="roundRect">
            <a:avLst>
              <a:gd name="adj" fmla="val 2332"/>
            </a:avLst>
          </a:prstGeom>
          <a:solidFill>
            <a:srgbClr val="F4F8FB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929384"/>
            <a:ext cx="914400" cy="914400"/>
          </a:xfrm>
          <a:prstGeom prst="ellipse">
            <a:avLst/>
          </a:prstGeom>
          <a:solidFill>
            <a:srgbClr val="1497AC"/>
          </a:solidFill>
          <a:ln/>
        </p:spPr>
      </p:sp>
      <p:pic>
        <p:nvPicPr>
          <p:cNvPr id="6" name="Image 0" descr="icons/c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2176272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82112" y="191109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D6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59536" y="2971800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biến &amp; xử lý biên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59536" y="3721608"/>
            <a:ext cx="29626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đọc cảm biến mưa, ánh sáng LDR, gió analog, nút nhấn và công tắc hành trình.</a:t>
            </a:r>
            <a:endParaRPr lang="en-US" sz="1250" dirty="0"/>
          </a:p>
          <a:p>
            <a:pPr marL="177800" indent="-1778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xử lý ngay tại thiết bị → hệ thống vẫn phản ứng kể cả khi Internet không ổn định.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29684" y="1600200"/>
            <a:ext cx="3529584" cy="4434840"/>
          </a:xfrm>
          <a:prstGeom prst="roundRect">
            <a:avLst>
              <a:gd name="adj" fmla="val 2332"/>
            </a:avLst>
          </a:prstGeom>
          <a:solidFill>
            <a:srgbClr val="F4F8FB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22292" y="1929384"/>
            <a:ext cx="914400" cy="914400"/>
          </a:xfrm>
          <a:prstGeom prst="ellipse">
            <a:avLst/>
          </a:prstGeom>
          <a:solidFill>
            <a:srgbClr val="F2A33C"/>
          </a:solidFill>
          <a:ln/>
        </p:spPr>
      </p:sp>
      <p:pic>
        <p:nvPicPr>
          <p:cNvPr id="12" name="Image 1" descr="icons/mo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9180" y="2176272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4868" y="191109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D6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4622292" y="2971800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khiển cục bộ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22292" y="3721608"/>
            <a:ext cx="29626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điều khiển motor qua driver L298N bằng 3 chân EN, IN1, IN2.</a:t>
            </a:r>
            <a:endParaRPr lang="en-US" sz="1250" dirty="0"/>
          </a:p>
          <a:p>
            <a:pPr marL="177800" indent="-1778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Lệnh OPEN / CLOSE / STOP được kiểm tra với limit switch, timeout và khoảng chờ đổi chiều.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92440" y="1600200"/>
            <a:ext cx="3529584" cy="4434840"/>
          </a:xfrm>
          <a:prstGeom prst="roundRect">
            <a:avLst>
              <a:gd name="adj" fmla="val 2332"/>
            </a:avLst>
          </a:prstGeom>
          <a:solidFill>
            <a:srgbClr val="F4F8FB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85048" y="1929384"/>
            <a:ext cx="914400" cy="914400"/>
          </a:xfrm>
          <a:prstGeom prst="ellipse">
            <a:avLst/>
          </a:prstGeom>
          <a:solidFill>
            <a:srgbClr val="1E4A73"/>
          </a:solidFill>
          <a:ln/>
        </p:spPr>
      </p:sp>
      <p:pic>
        <p:nvPicPr>
          <p:cNvPr id="18" name="Image 2" descr="icons/clou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1936" y="2176272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707624" y="191109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D6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8385048" y="2971800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 sát &amp; điều khiển cloud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385048" y="3721608"/>
            <a:ext cx="29626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ThingsBoard Cloud nhận telemetry, lưu real-time, hiển thị dashboard/widget, quản lý shared attributes và gửi RPC.</a:t>
            </a:r>
            <a:endParaRPr lang="en-US" sz="1250" dirty="0"/>
          </a:p>
          <a:p>
            <a:pPr marL="177800" indent="-1778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cần phát triển website hay ứng dụng di động riêng.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13230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1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 · GIỚI THIỆU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nghiên cứu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một nguyên mẫu có đầy đủ chức năng của hệ thống bạt che thông minh.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394960" cy="1298448"/>
          </a:xfrm>
          <a:prstGeom prst="roundRect">
            <a:avLst>
              <a:gd name="adj" fmla="val 6338"/>
            </a:avLst>
          </a:prstGeom>
          <a:solidFill>
            <a:srgbClr val="F4F8FB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58568"/>
            <a:ext cx="713232" cy="713232"/>
          </a:xfrm>
          <a:prstGeom prst="ellipse">
            <a:avLst/>
          </a:prstGeom>
          <a:solidFill>
            <a:srgbClr val="1497AC"/>
          </a:solidFill>
          <a:ln/>
        </p:spPr>
      </p:sp>
      <p:pic>
        <p:nvPicPr>
          <p:cNvPr id="7" name="Image 0" descr="icons/c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533" y="2451141"/>
            <a:ext cx="328087" cy="3280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057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cứng trung tâm ESP32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737360" y="24231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cảm biến mưa, ánh sáng, gió, nút nhấn, limit switch, driver L298N và motor giảm tốc.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36208" y="1874520"/>
            <a:ext cx="5394960" cy="1298448"/>
          </a:xfrm>
          <a:prstGeom prst="roundRect">
            <a:avLst>
              <a:gd name="adj" fmla="val 6338"/>
            </a:avLst>
          </a:prstGeom>
          <a:solidFill>
            <a:srgbClr val="F4F8FB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258568"/>
            <a:ext cx="713232" cy="713232"/>
          </a:xfrm>
          <a:prstGeom prst="ellipse">
            <a:avLst/>
          </a:prstGeom>
          <a:solidFill>
            <a:srgbClr val="F2A33C"/>
          </a:solidFill>
          <a:ln/>
        </p:spPr>
      </p:sp>
      <p:pic>
        <p:nvPicPr>
          <p:cNvPr id="12" name="Image 1" descr="icons/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813" y="2451141"/>
            <a:ext cx="328087" cy="3280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2057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 toán điều khiển tự động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7406640" y="24231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tiên gió mạnh để bảo vệ cơ cấu; mưa/nắng mạnh → mở; ban đêm không mưa → đóng bạt.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66928" y="3447288"/>
            <a:ext cx="5394960" cy="1298448"/>
          </a:xfrm>
          <a:prstGeom prst="roundRect">
            <a:avLst>
              <a:gd name="adj" fmla="val 6338"/>
            </a:avLst>
          </a:prstGeom>
          <a:solidFill>
            <a:srgbClr val="F4F8FB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3831336"/>
            <a:ext cx="713232" cy="713232"/>
          </a:xfrm>
          <a:prstGeom prst="ellipse">
            <a:avLst/>
          </a:prstGeom>
          <a:solidFill>
            <a:srgbClr val="1E4A73"/>
          </a:solidFill>
          <a:ln/>
        </p:spPr>
      </p:sp>
      <p:pic>
        <p:nvPicPr>
          <p:cNvPr id="17" name="Image 2" descr="icons/togg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533" y="4023909"/>
            <a:ext cx="328087" cy="32808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37360" y="36301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Chế độ AUTO / MANUAL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1737360" y="399592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khiển trực tiếp bằng nút nhấn hoặc từ ThingsBoard Cloud thông qua RPC.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36208" y="3447288"/>
            <a:ext cx="5394960" cy="1298448"/>
          </a:xfrm>
          <a:prstGeom prst="roundRect">
            <a:avLst>
              <a:gd name="adj" fmla="val 6338"/>
            </a:avLst>
          </a:prstGeom>
          <a:solidFill>
            <a:srgbClr val="F4F8FB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92240" y="3831336"/>
            <a:ext cx="713232" cy="713232"/>
          </a:xfrm>
          <a:prstGeom prst="ellipse">
            <a:avLst/>
          </a:prstGeom>
          <a:solidFill>
            <a:srgbClr val="2BA86F"/>
          </a:solidFill>
          <a:ln/>
        </p:spPr>
      </p:sp>
      <p:pic>
        <p:nvPicPr>
          <p:cNvPr id="22" name="Image 3" descr="icons/dis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4813" y="4023909"/>
            <a:ext cx="328087" cy="32808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06640" y="36301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telemetry định kỳ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7406640" y="399592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rainDetected, lightPercent, windSpeed, windStrong, mode, tarpState, motorState, limit, rssi, Wi-Fi/MQTT.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66928" y="5020056"/>
            <a:ext cx="11064240" cy="1298448"/>
          </a:xfrm>
          <a:prstGeom prst="roundRect">
            <a:avLst>
              <a:gd name="adj" fmla="val 6338"/>
            </a:avLst>
          </a:prstGeom>
          <a:solidFill>
            <a:srgbClr val="F4F8FB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22960" y="5404104"/>
            <a:ext cx="713232" cy="713232"/>
          </a:xfrm>
          <a:prstGeom prst="ellipse">
            <a:avLst/>
          </a:prstGeom>
          <a:solidFill>
            <a:srgbClr val="D98824"/>
          </a:solidFill>
          <a:ln/>
        </p:spPr>
      </p:sp>
      <p:pic>
        <p:nvPicPr>
          <p:cNvPr id="27" name="Image 4" descr="icons/slid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533" y="5596677"/>
            <a:ext cx="328087" cy="32808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737360" y="52029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từ xa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1737360" y="5568696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Wi-Fi và các ngưỡng lightDay/Night, windStrongMs từ ThingsBoard mà không cần nạp lại firmware.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113230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1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 · KIẾN TRÚC HỆ THỐNG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khối hệ thống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644652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pic>
        <p:nvPicPr>
          <p:cNvPr id="5" name="Image 0" descr="img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415144"/>
            <a:ext cx="5897880" cy="2530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5715000"/>
            <a:ext cx="5897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2.1 · Sơ đồ khối hệ thống — luồng tín hiệu và phân bổ nguồn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0" y="1554480"/>
            <a:ext cx="4315968" cy="1417320"/>
          </a:xfrm>
          <a:prstGeom prst="roundRect">
            <a:avLst>
              <a:gd name="adj" fmla="val 5806"/>
            </a:avLst>
          </a:prstGeom>
          <a:solidFill>
            <a:srgbClr val="F4F8FB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52944" y="1810512"/>
            <a:ext cx="640080" cy="640080"/>
          </a:xfrm>
          <a:prstGeom prst="ellipse">
            <a:avLst/>
          </a:prstGeom>
          <a:solidFill>
            <a:srgbClr val="1497AC"/>
          </a:solidFill>
          <a:ln/>
        </p:spPr>
      </p:sp>
      <p:pic>
        <p:nvPicPr>
          <p:cNvPr id="9" name="Image 1" descr="icons/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5766" y="1983334"/>
            <a:ext cx="294437" cy="29443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339328" y="1755648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Khối Đầu vào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8339328" y="2121408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biến mưa, ánh sáng, gió, nút nhấn và công tắc hành trình thu thập tín hiệu gửi về ESP32.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315200" y="3136392"/>
            <a:ext cx="4315968" cy="1417320"/>
          </a:xfrm>
          <a:prstGeom prst="roundRect">
            <a:avLst>
              <a:gd name="adj" fmla="val 5806"/>
            </a:avLst>
          </a:prstGeom>
          <a:solidFill>
            <a:srgbClr val="F4F8FB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552944" y="3392424"/>
            <a:ext cx="640080" cy="640080"/>
          </a:xfrm>
          <a:prstGeom prst="ellipse">
            <a:avLst/>
          </a:prstGeom>
          <a:solidFill>
            <a:srgbClr val="1E4A73"/>
          </a:solidFill>
          <a:ln/>
        </p:spPr>
      </p:sp>
      <p:pic>
        <p:nvPicPr>
          <p:cNvPr id="14" name="Image 2" descr="icons/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5766" y="3565246"/>
            <a:ext cx="294437" cy="29443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39328" y="333756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Khối Xử lý trung tâm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8339328" y="3703320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— "bộ não": đọc &amp; lọc tín hiệu, so sánh ngưỡng, điều khiển motor, duy trì Wi-Fi + MQTT/TLS.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315200" y="4718304"/>
            <a:ext cx="4315968" cy="1417320"/>
          </a:xfrm>
          <a:prstGeom prst="roundRect">
            <a:avLst>
              <a:gd name="adj" fmla="val 5806"/>
            </a:avLst>
          </a:prstGeom>
          <a:solidFill>
            <a:srgbClr val="F4F8FB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552944" y="4974336"/>
            <a:ext cx="640080" cy="640080"/>
          </a:xfrm>
          <a:prstGeom prst="ellipse">
            <a:avLst/>
          </a:prstGeom>
          <a:solidFill>
            <a:srgbClr val="F2A33C"/>
          </a:solidFill>
          <a:ln/>
        </p:spPr>
      </p:sp>
      <p:pic>
        <p:nvPicPr>
          <p:cNvPr id="19" name="Image 3" descr="icons/mot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5766" y="5147158"/>
            <a:ext cx="294437" cy="29443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39328" y="4919472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Khối Đầu ra</a:t>
            </a:r>
            <a:endParaRPr lang="en-US" sz="1550" dirty="0"/>
          </a:p>
        </p:txBody>
      </p:sp>
      <p:sp>
        <p:nvSpPr>
          <p:cNvPr id="21" name="Text 15"/>
          <p:cNvSpPr/>
          <p:nvPr/>
        </p:nvSpPr>
        <p:spPr>
          <a:xfrm>
            <a:off x="8339328" y="5285232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L298N điều khiển motor kéo bạt qua IN1, IN2, EN — quay theo chiều mở, đóng hoặc dừng.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113230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1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 · KIẾN TRÚC HỆ THỐNG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tiết các thành phần phần cứng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3529584" cy="1481328"/>
          </a:xfrm>
          <a:prstGeom prst="roundRect">
            <a:avLst>
              <a:gd name="adj" fmla="val 5556"/>
            </a:avLst>
          </a:prstGeom>
          <a:solidFill>
            <a:srgbClr val="F4F8FB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27632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CF3"/>
            </a:solidFill>
            <a:prstDash val="solid"/>
          </a:ln>
        </p:spPr>
      </p:sp>
      <p:pic>
        <p:nvPicPr>
          <p:cNvPr id="6" name="Image 0" descr="img/image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8096" y="1682496"/>
            <a:ext cx="1078992" cy="10789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48256" y="1737360"/>
            <a:ext cx="1956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điều khiển ESP32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048256" y="2322576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Lõi kép 240MHz · Wi-Fi 2.4GHz + BT · 38 GPIO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9684" y="1481328"/>
            <a:ext cx="3529584" cy="1481328"/>
          </a:xfrm>
          <a:prstGeom prst="roundRect">
            <a:avLst>
              <a:gd name="adj" fmla="val 5556"/>
            </a:avLst>
          </a:prstGeom>
          <a:solidFill>
            <a:srgbClr val="F4F8FB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75988" y="1627632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CF3"/>
            </a:solidFill>
            <a:prstDash val="solid"/>
          </a:ln>
        </p:spPr>
      </p:sp>
      <p:pic>
        <p:nvPicPr>
          <p:cNvPr id="11" name="Image 1" descr="img/l298n_clea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30852" y="1682496"/>
            <a:ext cx="1078992" cy="10789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11012" y="1737360"/>
            <a:ext cx="1956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Driver L298N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811012" y="2322576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Cầu H đôi · 2A/cầu · PWM + đảo chiều motor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92440" y="1481328"/>
            <a:ext cx="3529584" cy="1481328"/>
          </a:xfrm>
          <a:prstGeom prst="roundRect">
            <a:avLst>
              <a:gd name="adj" fmla="val 5556"/>
            </a:avLst>
          </a:prstGeom>
          <a:solidFill>
            <a:srgbClr val="F4F8FB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38744" y="1627632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CF3"/>
            </a:solidFill>
            <a:prstDash val="solid"/>
          </a:ln>
        </p:spPr>
      </p:sp>
      <p:pic>
        <p:nvPicPr>
          <p:cNvPr id="16" name="Image 2" descr="img/image6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93608" y="1682496"/>
            <a:ext cx="1078992" cy="10789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573768" y="1737360"/>
            <a:ext cx="1956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biến mưa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9573768" y="2322576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Digital/Analog · biến trở chỉnh độ nhạy · 3.3–5V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66928" y="3163824"/>
            <a:ext cx="3529584" cy="1481328"/>
          </a:xfrm>
          <a:prstGeom prst="roundRect">
            <a:avLst>
              <a:gd name="adj" fmla="val 5556"/>
            </a:avLst>
          </a:prstGeom>
          <a:solidFill>
            <a:srgbClr val="F4F8FB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13232" y="3310128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CF3"/>
            </a:solidFill>
            <a:prstDash val="solid"/>
          </a:ln>
        </p:spPr>
      </p:sp>
      <p:pic>
        <p:nvPicPr>
          <p:cNvPr id="21" name="Image 3" descr="img/image5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68096" y="3364992"/>
            <a:ext cx="1078992" cy="10789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048256" y="3419856"/>
            <a:ext cx="1956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biến ánh sáng LDR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2048256" y="4005072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độ sáng qua ADC → quy đổi phần trăm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29684" y="3163824"/>
            <a:ext cx="3529584" cy="1481328"/>
          </a:xfrm>
          <a:prstGeom prst="roundRect">
            <a:avLst>
              <a:gd name="adj" fmla="val 5556"/>
            </a:avLst>
          </a:prstGeom>
          <a:solidFill>
            <a:srgbClr val="F4F8FB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75988" y="3310128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CF3"/>
            </a:solidFill>
            <a:prstDash val="solid"/>
          </a:ln>
        </p:spPr>
      </p:sp>
      <p:pic>
        <p:nvPicPr>
          <p:cNvPr id="26" name="Image 4" descr="img/image11.jpe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30852" y="3364992"/>
            <a:ext cx="1078992" cy="107899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811012" y="3419856"/>
            <a:ext cx="1956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biến gió analog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5811012" y="4005072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ra analog, lọc mượt → ước lượng m/s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92440" y="3163824"/>
            <a:ext cx="3529584" cy="1481328"/>
          </a:xfrm>
          <a:prstGeom prst="roundRect">
            <a:avLst>
              <a:gd name="adj" fmla="val 5556"/>
            </a:avLst>
          </a:prstGeom>
          <a:solidFill>
            <a:srgbClr val="F4F8FB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38744" y="3310128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CF3"/>
            </a:solidFill>
            <a:prstDash val="solid"/>
          </a:ln>
        </p:spPr>
      </p:sp>
      <p:pic>
        <p:nvPicPr>
          <p:cNvPr id="31" name="Image 5" descr="img/image7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293608" y="3364992"/>
            <a:ext cx="1078992" cy="107899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573768" y="3419856"/>
            <a:ext cx="1956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tắc hành trình (×2)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9573768" y="4005072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switch NO/NC/COM · xác định giới hạn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66928" y="4846320"/>
            <a:ext cx="3529584" cy="1481328"/>
          </a:xfrm>
          <a:prstGeom prst="roundRect">
            <a:avLst>
              <a:gd name="adj" fmla="val 5556"/>
            </a:avLst>
          </a:prstGeom>
          <a:solidFill>
            <a:srgbClr val="F4F8FB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13232" y="4992624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CF3"/>
            </a:solidFill>
            <a:prstDash val="solid"/>
          </a:ln>
        </p:spPr>
      </p:sp>
      <p:pic>
        <p:nvPicPr>
          <p:cNvPr id="36" name="Image 6" descr="img/image8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68096" y="5047488"/>
            <a:ext cx="1078992" cy="107899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2048256" y="5102352"/>
            <a:ext cx="1956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Động cơ DC 5V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2048256" y="5687568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 motor 16 RPM · moment xoắn cao kéo bạt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4329684" y="4846320"/>
            <a:ext cx="3529584" cy="1481328"/>
          </a:xfrm>
          <a:prstGeom prst="roundRect">
            <a:avLst>
              <a:gd name="adj" fmla="val 5556"/>
            </a:avLst>
          </a:prstGeom>
          <a:solidFill>
            <a:srgbClr val="F4F8FB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475988" y="4992624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CF3"/>
            </a:solidFill>
            <a:prstDash val="solid"/>
          </a:ln>
        </p:spPr>
      </p:sp>
      <p:pic>
        <p:nvPicPr>
          <p:cNvPr id="41" name="Image 7" descr="img/image9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530852" y="5047488"/>
            <a:ext cx="1078992" cy="107899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811012" y="5102352"/>
            <a:ext cx="1956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Nút nhấn (×3)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5811012" y="5687568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Momentary · lệnh Đóng/Mở/AUTO thủ công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8092440" y="4846320"/>
            <a:ext cx="3529584" cy="1481328"/>
          </a:xfrm>
          <a:prstGeom prst="roundRect">
            <a:avLst>
              <a:gd name="adj" fmla="val 5556"/>
            </a:avLst>
          </a:prstGeom>
          <a:solidFill>
            <a:srgbClr val="F4F8FB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8238744" y="4992624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CF3"/>
            </a:solidFill>
            <a:prstDash val="solid"/>
          </a:ln>
        </p:spPr>
      </p:sp>
      <p:pic>
        <p:nvPicPr>
          <p:cNvPr id="46" name="Image 8" descr="img/image10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293608" y="5047488"/>
            <a:ext cx="1078992" cy="1078992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9573768" y="5102352"/>
            <a:ext cx="1956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 Adapter 12V</a:t>
            </a:r>
            <a:endParaRPr lang="en-US" sz="1350" dirty="0"/>
          </a:p>
        </p:txBody>
      </p:sp>
      <p:sp>
        <p:nvSpPr>
          <p:cNvPr id="48" name="Text 37"/>
          <p:cNvSpPr/>
          <p:nvPr/>
        </p:nvSpPr>
        <p:spPr>
          <a:xfrm>
            <a:off x="9573768" y="5687568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100–240VAC → 12VDC, hạ áp 5V qua DC-DC</a:t>
            </a:r>
            <a:endParaRPr lang="en-US" sz="1050" dirty="0"/>
          </a:p>
        </p:txBody>
      </p:sp>
      <p:sp>
        <p:nvSpPr>
          <p:cNvPr id="49" name="Text 38"/>
          <p:cNvSpPr/>
          <p:nvPr/>
        </p:nvSpPr>
        <p:spPr>
          <a:xfrm>
            <a:off x="113230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1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 · KIẾN TRÚC HỆ THỐNG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phân tầng — 3 lớp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F4F8FB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84248"/>
            <a:ext cx="676656" cy="676656"/>
          </a:xfrm>
          <a:prstGeom prst="ellipse">
            <a:avLst/>
          </a:prstGeom>
          <a:solidFill>
            <a:srgbClr val="1497AC"/>
          </a:solidFill>
          <a:ln/>
        </p:spPr>
      </p:sp>
      <p:pic>
        <p:nvPicPr>
          <p:cNvPr id="6" name="Image 0" descr="icons/c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945" y="2166945"/>
            <a:ext cx="311262" cy="311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88168" y="187452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DC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1664208" y="1801368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Phần cứng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664208" y="2203704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cảm biến và nút bấm đầu vào, ESP32 đóng vai trò Gateway, cụm cơ cấu chấp hành đầu ra.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664208" y="251460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 "giác quan" của hệ thống — xử lý tại biên rồi đóng gói dữ liệu gửi lên cloud qua Wi-Fi.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66928" y="320040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F4F8FB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41248" y="3584448"/>
            <a:ext cx="676656" cy="676656"/>
          </a:xfrm>
          <a:prstGeom prst="ellipse">
            <a:avLst/>
          </a:prstGeom>
          <a:solidFill>
            <a:srgbClr val="1E4A73"/>
          </a:solidFill>
          <a:ln/>
        </p:spPr>
      </p:sp>
      <p:pic>
        <p:nvPicPr>
          <p:cNvPr id="15" name="Image 2" descr="icons/di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945" y="3767145"/>
            <a:ext cx="311262" cy="3112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488168" y="347472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DC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3400" dirty="0"/>
          </a:p>
        </p:txBody>
      </p:sp>
      <p:sp>
        <p:nvSpPr>
          <p:cNvPr id="17" name="Text 12"/>
          <p:cNvSpPr/>
          <p:nvPr/>
        </p:nvSpPr>
        <p:spPr>
          <a:xfrm>
            <a:off x="1664208" y="3401568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Truyền tải (MQTT / MQTTS)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664208" y="3803904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dùng MQTT qua TLS với WiFiClientSecure + PubSubClient, giao tiếp 2 chiều với ThingsBoard.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664208" y="411480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telemetry &amp; attributes · nhận RPC qua v1/devices/me/rpc/request/+ · đọc shared attributes.</a:t>
            </a:r>
            <a:endParaRPr lang="en-US" sz="1100" dirty="0"/>
          </a:p>
        </p:txBody>
      </p:sp>
      <p:pic>
        <p:nvPicPr>
          <p:cNvPr id="21" name="Image 3" descr="icons/arrowdow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790" y="4628510"/>
            <a:ext cx="143012" cy="143012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66928" y="480060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F4F8FB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41248" y="5184648"/>
            <a:ext cx="676656" cy="676656"/>
          </a:xfrm>
          <a:prstGeom prst="ellipse">
            <a:avLst/>
          </a:prstGeom>
          <a:solidFill>
            <a:srgbClr val="F2A33C"/>
          </a:solidFill>
          <a:ln/>
        </p:spPr>
      </p:sp>
      <p:pic>
        <p:nvPicPr>
          <p:cNvPr id="24" name="Image 4" descr="icons/clo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945" y="5367345"/>
            <a:ext cx="311262" cy="31126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488168" y="507492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DC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3400" dirty="0"/>
          </a:p>
        </p:txBody>
      </p:sp>
      <p:sp>
        <p:nvSpPr>
          <p:cNvPr id="26" name="Text 19"/>
          <p:cNvSpPr/>
          <p:nvPr/>
        </p:nvSpPr>
        <p:spPr>
          <a:xfrm>
            <a:off x="1664208" y="5001768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Đám mây &amp; Ứng dụng</a:t>
            </a:r>
            <a:endParaRPr lang="en-US" sz="1700" dirty="0"/>
          </a:p>
        </p:txBody>
      </p:sp>
      <p:sp>
        <p:nvSpPr>
          <p:cNvPr id="27" name="Text 20"/>
          <p:cNvSpPr/>
          <p:nvPr/>
        </p:nvSpPr>
        <p:spPr>
          <a:xfrm>
            <a:off x="1664208" y="5404104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ThingsBoard Cloud thay thế backend và giao diện tự xây dựng.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1664208" y="571500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thiết bị bằng access token · lưu time-series · dashboard/widget · rule engine · alarm · RPC.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113230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1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· THIẾT KẾ HỆ THỐNG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phần cứng — đấu nối GPIO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5989320" cy="4334256"/>
        </p:xfrm>
        <a:graphic>
          <a:graphicData uri="http://schemas.openxmlformats.org/drawingml/2006/table">
            <a:tbl>
              <a:tblPr/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Thiết bị / chức năng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Loại tín hiệu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4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Cảm biến mưa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E7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4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Cảm biến ánh sáng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E7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Analog 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4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Cảm biến gió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E7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Analog 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4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 mở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E7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4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 đóng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E7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4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Nút mở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E7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4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Nút đóng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E7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4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Nút AUTO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E7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4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IN1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E7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4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IN2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E7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4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E7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PWM 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12280" y="1481328"/>
            <a:ext cx="4818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khiển chiều quay motor</a:t>
            </a:r>
            <a:endParaRPr lang="en-US" sz="14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1865376"/>
          <a:ext cx="4818888" cy="1609344"/>
        </p:xfrm>
        <a:graphic>
          <a:graphicData uri="http://schemas.openxmlformats.org/drawingml/2006/table">
            <a:tbl>
              <a:tblPr/>
              <a:tblGrid>
                <a:gridCol w="1892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Trạng thái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BA8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Mở bạt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497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Đóng bạt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6B81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Dừng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806184" y="3655702"/>
            <a:ext cx="4818888" cy="2542032"/>
          </a:xfrm>
          <a:prstGeom prst="roundRect">
            <a:avLst>
              <a:gd name="adj" fmla="val 3237"/>
            </a:avLst>
          </a:prstGeom>
          <a:solidFill>
            <a:srgbClr val="0E2A47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4" name="Text 5"/>
          <p:cNvSpPr/>
          <p:nvPr/>
        </p:nvSpPr>
        <p:spPr>
          <a:xfrm>
            <a:off x="7104888" y="3941064"/>
            <a:ext cx="432511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tắc đấu công tắc hành trình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7104888" y="4773168"/>
            <a:ext cx="4233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5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Đấu chân NC + INPUT_PULLUP. </a:t>
            </a:r>
            <a:r>
              <a:rPr lang="en-US" sz="125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Bình thường GPIO đọc mức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r>
              <a:rPr lang="en-US" sz="125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khi chạm hành trình đọc mức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r>
              <a:rPr lang="en-US" sz="125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Nếu dây tín hiệu đứt, GPIO bị kéo lên HIGH → hệ thống coi như đã chạm và </a:t>
            </a:r>
            <a:r>
              <a:rPr lang="en-US" sz="125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dừng motor an toàn.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113230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1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· THIẾT KẾ HỆ THỐNG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ảnh thực tế đấu nối mạch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29584" cy="4663440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pic>
        <p:nvPicPr>
          <p:cNvPr id="5" name="Image 0" descr="img/image13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4944" y="1682496"/>
            <a:ext cx="3273552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897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Mô hình mái che, cảm biến gió và cảm biến mưa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329684" y="1554480"/>
            <a:ext cx="3529584" cy="4663440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pic>
        <p:nvPicPr>
          <p:cNvPr id="8" name="Image 1" descr="img/image12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 rot="5400000">
            <a:off x="4014216" y="2162556"/>
            <a:ext cx="416052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94276" y="5897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 vực ESP32, driver và dây nối phần cứng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8092440" y="1554480"/>
            <a:ext cx="3529584" cy="4663440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pic>
        <p:nvPicPr>
          <p:cNvPr id="11" name="Image 2" descr="img/image11.jpe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20456" y="1682496"/>
            <a:ext cx="3273552" cy="41605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57032" y="5897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 err="1">
                <a:solidFill>
                  <a:srgbClr val="6B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</a:t>
            </a:r>
            <a:r>
              <a:rPr lang="en-US" sz="1050" i="1" dirty="0">
                <a:solidFill>
                  <a:srgbClr val="6B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hình mái che nhìn tổng thể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113230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1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· THIẾT KẾ HỆ THỐNG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phần mềm — 4 tác vụ FreeRTOS</a:t>
            </a:r>
            <a:endParaRPr lang="en-US" sz="2700" dirty="0"/>
          </a:p>
        </p:txBody>
      </p:sp>
      <p:pic>
        <p:nvPicPr>
          <p:cNvPr id="6" name="Image 0" descr="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00" y="1604040"/>
            <a:ext cx="193487" cy="1934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3584" y="14630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2212848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F4F8FB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2468880"/>
            <a:ext cx="749808" cy="749808"/>
          </a:xfrm>
          <a:prstGeom prst="ellipse">
            <a:avLst/>
          </a:prstGeom>
          <a:solidFill>
            <a:srgbClr val="1497AC"/>
          </a:solidFill>
          <a:ln/>
        </p:spPr>
      </p:sp>
      <p:pic>
        <p:nvPicPr>
          <p:cNvPr id="10" name="Image 1" descr="icons/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08" y="2671328"/>
            <a:ext cx="344912" cy="344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00784" y="243230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TaskSensors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700784" y="277977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cảm biến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841248" y="3182112"/>
            <a:ext cx="4846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Ánh sáng lọc α=0.18 → %. Gió lọc α=0.20, quy đổi raw 30–400 → 0–40 m/s. Mưa: báo sau 3s, hết mưa chờ 3 phút. Ban đêm dùng hysteresis.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36208" y="2212848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F4F8FB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2240" y="2468880"/>
            <a:ext cx="749808" cy="749808"/>
          </a:xfrm>
          <a:prstGeom prst="ellipse">
            <a:avLst/>
          </a:prstGeom>
          <a:solidFill>
            <a:srgbClr val="1E4A73"/>
          </a:solidFill>
          <a:ln/>
        </p:spPr>
      </p:sp>
      <p:pic>
        <p:nvPicPr>
          <p:cNvPr id="16" name="Image 2" descr="icons/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4688" y="2671328"/>
            <a:ext cx="344912" cy="344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370064" y="243230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TaskControl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7370064" y="277977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"Bộ não" xử lý logic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510528" y="3182112"/>
            <a:ext cx="4846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hàng đợi lệnh, kiểm tra limit switch &amp; motor, chạy thuật toán AUTO. Bảo vệ: timeout 20s, guard đổi chiều. Độ trễ 50ms.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66928" y="4261104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F4F8FB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22960" y="4517136"/>
            <a:ext cx="749808" cy="749808"/>
          </a:xfrm>
          <a:prstGeom prst="ellipse">
            <a:avLst/>
          </a:prstGeom>
          <a:solidFill>
            <a:srgbClr val="F2A33C"/>
          </a:solidFill>
          <a:ln/>
        </p:spPr>
      </p:sp>
      <p:pic>
        <p:nvPicPr>
          <p:cNvPr id="22" name="Image 3" descr="icons/togg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408" y="4719584"/>
            <a:ext cx="344912" cy="344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700784" y="44805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TaskButtons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1700784" y="482803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nút nhấn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841248" y="5230368"/>
            <a:ext cx="4846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3 nút OPEN/CLOSE/AUTO, chống dội phần mềm 20ms. Lệnh đẩy vào hàng đợi để taskControl kiểm tra an toàn trước khi chạy motor.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6236208" y="4261104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F4F8FB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492240" y="4517136"/>
            <a:ext cx="749808" cy="749808"/>
          </a:xfrm>
          <a:prstGeom prst="ellipse">
            <a:avLst/>
          </a:prstGeom>
          <a:solidFill>
            <a:srgbClr val="2BA86F"/>
          </a:solidFill>
          <a:ln/>
        </p:spPr>
      </p:sp>
      <p:pic>
        <p:nvPicPr>
          <p:cNvPr id="28" name="Image 4" descr="icons/dis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4688" y="4719584"/>
            <a:ext cx="344912" cy="34491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370064" y="44805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TaskMQTT</a:t>
            </a:r>
            <a:endParaRPr lang="en-US" sz="1700" dirty="0"/>
          </a:p>
        </p:txBody>
      </p:sp>
      <p:sp>
        <p:nvSpPr>
          <p:cNvPr id="30" name="Text 23"/>
          <p:cNvSpPr/>
          <p:nvPr/>
        </p:nvSpPr>
        <p:spPr>
          <a:xfrm>
            <a:off x="7370064" y="482803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A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&amp; telemetry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6510528" y="5230368"/>
            <a:ext cx="4846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 trì Wi-Fi + MQTT keep-alive 30ms, tự kết nối lại khi rớt. Publish telemetry, nhận RPC, ghi lịch sử sự kiện và phát cảnh báo.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113230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17"/>
          <p:cNvSpPr/>
          <p:nvPr/>
        </p:nvSpPr>
        <p:spPr>
          <a:xfrm>
            <a:off x="556596" y="4700016"/>
            <a:ext cx="6903720" cy="1078992"/>
          </a:xfrm>
          <a:prstGeom prst="roundRect">
            <a:avLst>
              <a:gd name="adj" fmla="val 7627"/>
            </a:avLst>
          </a:prstGeom>
          <a:solidFill>
            <a:srgbClr val="F4F8FB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1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· THIẾT KẾ HỆ THỐNG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 toán điều khiển chế độ AUTO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chế độ AUTO, hệ thống ra quyết định theo thứ tự ưu tiên dựa trên dữ liệu cảm biến: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6903720" cy="1078992"/>
          </a:xfrm>
          <a:prstGeom prst="roundRect">
            <a:avLst>
              <a:gd name="adj" fmla="val 7627"/>
            </a:avLst>
          </a:prstGeom>
          <a:solidFill>
            <a:srgbClr val="F4F8FB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84832"/>
            <a:ext cx="566928" cy="566928"/>
          </a:xfrm>
          <a:prstGeom prst="ellipse">
            <a:avLst/>
          </a:prstGeom>
          <a:solidFill>
            <a:srgbClr val="CF5B52"/>
          </a:solidFill>
          <a:ln/>
        </p:spPr>
      </p:sp>
      <p:pic>
        <p:nvPicPr>
          <p:cNvPr id="7" name="Image 0" descr="icons/wi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743" y="2237903"/>
            <a:ext cx="260787" cy="2607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27048" y="201168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Gió mạnh ≥ ngưỡng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527048" y="239572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F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TIÊN CAO NHẤT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527048" y="261518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bạt — bảo vệ an toàn cơ khí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61888" y="2157984"/>
            <a:ext cx="1280160" cy="420624"/>
          </a:xfrm>
          <a:prstGeom prst="roundRect">
            <a:avLst>
              <a:gd name="adj" fmla="val 50000"/>
            </a:avLst>
          </a:prstGeom>
          <a:solidFill>
            <a:srgbClr val="CF5B52"/>
          </a:solidFill>
          <a:ln/>
        </p:spPr>
      </p:sp>
      <p:sp>
        <p:nvSpPr>
          <p:cNvPr id="12" name="Text 9"/>
          <p:cNvSpPr/>
          <p:nvPr/>
        </p:nvSpPr>
        <p:spPr>
          <a:xfrm>
            <a:off x="5961888" y="215798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66928" y="3282874"/>
            <a:ext cx="6903720" cy="1078992"/>
          </a:xfrm>
          <a:prstGeom prst="roundRect">
            <a:avLst>
              <a:gd name="adj" fmla="val 7627"/>
            </a:avLst>
          </a:prstGeom>
          <a:solidFill>
            <a:srgbClr val="F4F8FB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802295" y="4956048"/>
            <a:ext cx="566928" cy="566928"/>
          </a:xfrm>
          <a:prstGeom prst="ellipse">
            <a:avLst/>
          </a:prstGeom>
          <a:solidFill>
            <a:srgbClr val="1E4A73"/>
          </a:solidFill>
          <a:ln/>
        </p:spPr>
      </p:sp>
      <p:pic>
        <p:nvPicPr>
          <p:cNvPr id="15" name="Image 1" descr="icons/mo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366" y="5109119"/>
            <a:ext cx="260787" cy="26078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24671" y="488289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đêm &amp; không mưa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1524671" y="526694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</a:t>
            </a:r>
            <a:r>
              <a:rPr lang="en-US" sz="1000" b="1" kern="0" spc="100" dirty="0" err="1">
                <a:solidFill>
                  <a:srgbClr val="1E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tiên</a:t>
            </a:r>
            <a:r>
              <a:rPr lang="en-US" sz="1000" b="1" kern="0" spc="100" dirty="0">
                <a:solidFill>
                  <a:srgbClr val="1E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524671" y="54864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bạt — đưa về trạng thái an toàn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959511" y="5029200"/>
            <a:ext cx="1280160" cy="420624"/>
          </a:xfrm>
          <a:prstGeom prst="roundRect">
            <a:avLst>
              <a:gd name="adj" fmla="val 50000"/>
            </a:avLst>
          </a:prstGeom>
          <a:solidFill>
            <a:srgbClr val="1E4A73"/>
          </a:solidFill>
          <a:ln/>
        </p:spPr>
      </p:sp>
      <p:sp>
        <p:nvSpPr>
          <p:cNvPr id="20" name="Text 16"/>
          <p:cNvSpPr/>
          <p:nvPr/>
        </p:nvSpPr>
        <p:spPr>
          <a:xfrm>
            <a:off x="5959511" y="502920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804672" y="3529939"/>
            <a:ext cx="566928" cy="566928"/>
          </a:xfrm>
          <a:prstGeom prst="ellipse">
            <a:avLst/>
          </a:prstGeom>
          <a:solidFill>
            <a:srgbClr val="1497AC"/>
          </a:solidFill>
          <a:ln/>
        </p:spPr>
      </p:sp>
      <p:pic>
        <p:nvPicPr>
          <p:cNvPr id="23" name="Image 2" descr="icons/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743" y="3683010"/>
            <a:ext cx="260787" cy="26078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527048" y="3456787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mưa hoặc nắng mạnh (ban ngày)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1527048" y="3840835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</a:t>
            </a:r>
            <a:r>
              <a:rPr lang="en-US" sz="1000" b="1" kern="0" spc="100" dirty="0" err="1">
                <a:solidFill>
                  <a:srgbClr val="1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tiên</a:t>
            </a:r>
            <a:r>
              <a:rPr lang="en-US" sz="1000" b="1" kern="0" spc="100" dirty="0">
                <a:solidFill>
                  <a:srgbClr val="1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1527048" y="4060291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bạt — che chắn khu vực bên dưới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5961888" y="3603091"/>
            <a:ext cx="1280160" cy="420624"/>
          </a:xfrm>
          <a:prstGeom prst="roundRect">
            <a:avLst>
              <a:gd name="adj" fmla="val 50000"/>
            </a:avLst>
          </a:prstGeom>
          <a:solidFill>
            <a:srgbClr val="1497AC"/>
          </a:solidFill>
          <a:ln/>
        </p:spPr>
      </p:sp>
      <p:sp>
        <p:nvSpPr>
          <p:cNvPr id="28" name="Text 23"/>
          <p:cNvSpPr/>
          <p:nvPr/>
        </p:nvSpPr>
        <p:spPr>
          <a:xfrm>
            <a:off x="5961888" y="3603091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7680960" y="1828800"/>
            <a:ext cx="3950208" cy="3776472"/>
          </a:xfrm>
          <a:prstGeom prst="roundRect">
            <a:avLst>
              <a:gd name="adj" fmla="val 2179"/>
            </a:avLst>
          </a:prstGeom>
          <a:solidFill>
            <a:srgbClr val="0E2A47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991856" y="2157984"/>
            <a:ext cx="777240" cy="777240"/>
          </a:xfrm>
          <a:prstGeom prst="ellipse">
            <a:avLst/>
          </a:prstGeom>
          <a:solidFill>
            <a:srgbClr val="F2A33C"/>
          </a:solidFill>
          <a:ln/>
        </p:spPr>
      </p:sp>
      <p:pic>
        <p:nvPicPr>
          <p:cNvPr id="31" name="Image 3" descr="icons/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1711" y="2367839"/>
            <a:ext cx="357530" cy="35753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8887968" y="2157984"/>
            <a:ext cx="2578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chế an toàn</a:t>
            </a:r>
            <a:endParaRPr lang="en-US" sz="1800" dirty="0"/>
          </a:p>
        </p:txBody>
      </p:sp>
      <p:sp>
        <p:nvSpPr>
          <p:cNvPr id="33" name="Text 27"/>
          <p:cNvSpPr/>
          <p:nvPr/>
        </p:nvSpPr>
        <p:spPr>
          <a:xfrm>
            <a:off x="8010144" y="315468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2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đổi chiều motor 700ms tránh đảo chiều đột ngột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2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motor 20 giây tránh kẹt cơ khí / cháy motor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2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switch dừng cứng khi đạt cuối hành trình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2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quá 1 tiếng tự trả về AUTO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113230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1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· THIẾT KẾ HỆ THỐNG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người dùng — ThingsBoard Cloud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7"/>
            <a:ext cx="6126480" cy="4479525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pic>
        <p:nvPicPr>
          <p:cNvPr id="5" name="Image 0" descr="img/image2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3232" y="1627632"/>
            <a:ext cx="5833872" cy="38953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7136" y="5606652"/>
            <a:ext cx="5797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ThingsBoard trên web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903720" y="1481328"/>
            <a:ext cx="2331720" cy="4479524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pic>
        <p:nvPicPr>
          <p:cNvPr id="8" name="Image 1" descr="img/image18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031736" y="1609344"/>
            <a:ext cx="2075688" cy="38692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95160" y="56066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9436608" y="1481328"/>
            <a:ext cx="2194560" cy="4436220"/>
          </a:xfrm>
          <a:prstGeom prst="roundRect">
            <a:avLst>
              <a:gd name="adj" fmla="val 3750"/>
            </a:avLst>
          </a:prstGeom>
          <a:solidFill>
            <a:srgbClr val="F4F8FB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637776" y="1719072"/>
            <a:ext cx="548640" cy="548640"/>
          </a:xfrm>
          <a:prstGeom prst="ellipse">
            <a:avLst/>
          </a:prstGeom>
          <a:solidFill>
            <a:srgbClr val="1497AC"/>
          </a:solidFill>
          <a:ln/>
        </p:spPr>
      </p:sp>
      <p:pic>
        <p:nvPicPr>
          <p:cNvPr id="12" name="Image 2" descr="icons/desk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5909" y="1867205"/>
            <a:ext cx="252374" cy="25237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37776" y="2350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hiển thị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9656064" y="2670048"/>
            <a:ext cx="17739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 thái bạt, motor, mode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Mưa · ánh sáng · gió · Wi-Fi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sử hệ thống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Nút OPEN/CLOSE/STOP/AUTO</a:t>
            </a:r>
            <a:endParaRPr lang="en-US" sz="1050" dirty="0"/>
          </a:p>
        </p:txBody>
      </p:sp>
      <p:pic>
        <p:nvPicPr>
          <p:cNvPr id="15" name="Image 3" descr="img/image21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582912" y="4407407"/>
            <a:ext cx="1901952" cy="109683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582912" y="5652372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ngưỡng tự động</a:t>
            </a:r>
            <a:endParaRPr lang="en-US" sz="850" dirty="0"/>
          </a:p>
        </p:txBody>
      </p:sp>
      <p:sp>
        <p:nvSpPr>
          <p:cNvPr id="17" name="Text 11"/>
          <p:cNvSpPr/>
          <p:nvPr/>
        </p:nvSpPr>
        <p:spPr>
          <a:xfrm>
            <a:off x="113230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1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 · KẾT QUẢ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Monitor &amp; trạng thái cảnh báo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7"/>
            <a:ext cx="5989320" cy="3245947"/>
          </a:xfrm>
          <a:prstGeom prst="roundRect">
            <a:avLst>
              <a:gd name="adj" fmla="val 2609"/>
            </a:avLst>
          </a:prstGeom>
          <a:solidFill>
            <a:srgbClr val="0F1A24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15732" y="4407752"/>
            <a:ext cx="5660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D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Serial Monitor khi khởi động &amp; kết nối ThingsBoard</a:t>
            </a:r>
            <a:endParaRPr lang="en-US" sz="10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282743"/>
              </p:ext>
            </p:extLst>
          </p:nvPr>
        </p:nvGraphicFramePr>
        <p:xfrm>
          <a:off x="566928" y="4837176"/>
          <a:ext cx="5989320" cy="14256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Điều kiện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Hành động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4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Gió to vượt ngưỡng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CF5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Gửi thông báo · ĐÓNG bạt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4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Ánh sáng dưới ngưỡng ban đêm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4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Gửi thông báo · ĐÓNG bạt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4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 mưa &amp; gió an toàn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97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Gửi thông báo · MỞ bạt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6720840" y="1463040"/>
            <a:ext cx="2194560" cy="4681728"/>
          </a:xfrm>
          <a:prstGeom prst="roundRect">
            <a:avLst>
              <a:gd name="adj" fmla="val 3750"/>
            </a:avLst>
          </a:prstGeom>
          <a:solidFill>
            <a:srgbClr val="0E2A47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6922008" y="1700784"/>
            <a:ext cx="566928" cy="566928"/>
          </a:xfrm>
          <a:prstGeom prst="ellipse">
            <a:avLst/>
          </a:prstGeom>
          <a:solidFill>
            <a:srgbClr val="F2A33C"/>
          </a:solidFill>
          <a:ln/>
        </p:spPr>
      </p:sp>
      <p:pic>
        <p:nvPicPr>
          <p:cNvPr id="13" name="Image 2" descr="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079" y="1853855"/>
            <a:ext cx="260787" cy="26078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22008" y="2359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 Serial Monitor</a:t>
            </a:r>
            <a:endParaRPr lang="en-US" sz="1300" dirty="0"/>
          </a:p>
        </p:txBody>
      </p:sp>
      <p:sp>
        <p:nvSpPr>
          <p:cNvPr id="7" name="Text 9"/>
          <p:cNvSpPr/>
          <p:nvPr/>
        </p:nvSpPr>
        <p:spPr>
          <a:xfrm>
            <a:off x="6940296" y="2697480"/>
            <a:ext cx="177393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WiFiManager, kết nối Wi-Fi</a:t>
            </a:r>
            <a:endParaRPr lang="en-US" sz="1100" dirty="0"/>
          </a:p>
          <a:p>
            <a:pPr marL="152400" indent="-1524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ThingsBoard MQTT</a:t>
            </a:r>
            <a:endParaRPr lang="en-US" sz="1100" dirty="0"/>
          </a:p>
          <a:p>
            <a:pPr marL="152400" indent="-1524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lịch sử khởi động</a:t>
            </a:r>
            <a:endParaRPr lang="en-US" sz="1100" dirty="0"/>
          </a:p>
          <a:p>
            <a:pPr marL="152400" indent="-1524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telemetry định kỳ</a:t>
            </a:r>
            <a:endParaRPr lang="en-US" sz="1100" dirty="0"/>
          </a:p>
          <a:p>
            <a:pPr marL="152400" indent="-1524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sự kiện mưa, gió mạnh</a:t>
            </a:r>
            <a:endParaRPr lang="en-US" sz="1100" dirty="0"/>
          </a:p>
          <a:p>
            <a:pPr marL="152400" indent="-1524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chạy / dừng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113230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18" name="Hình ảnh 17">
            <a:extLst>
              <a:ext uri="{FF2B5EF4-FFF2-40B4-BE49-F238E27FC236}">
                <a16:creationId xmlns:a16="http://schemas.microsoft.com/office/drawing/2014/main" id="{F312DD59-19CD-DA0C-284B-E20A962E99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97" t="30111" r="5067" b="7865"/>
          <a:stretch>
            <a:fillRect/>
          </a:stretch>
        </p:blipFill>
        <p:spPr>
          <a:xfrm>
            <a:off x="731520" y="1609344"/>
            <a:ext cx="5660136" cy="2799684"/>
          </a:xfrm>
          <a:prstGeom prst="rect">
            <a:avLst/>
          </a:prstGeom>
        </p:spPr>
      </p:pic>
      <p:sp>
        <p:nvSpPr>
          <p:cNvPr id="5" name="Shape 4">
            <a:extLst>
              <a:ext uri="{FF2B5EF4-FFF2-40B4-BE49-F238E27FC236}">
                <a16:creationId xmlns:a16="http://schemas.microsoft.com/office/drawing/2014/main" id="{2A7D1B99-A1E4-ED46-4C2B-CB9D7F258460}"/>
              </a:ext>
            </a:extLst>
          </p:cNvPr>
          <p:cNvSpPr/>
          <p:nvPr/>
        </p:nvSpPr>
        <p:spPr>
          <a:xfrm>
            <a:off x="9162288" y="1463040"/>
            <a:ext cx="2468880" cy="4681728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pic>
        <p:nvPicPr>
          <p:cNvPr id="17" name="Image 1" descr="img/image24.jpeg">
            <a:extLst>
              <a:ext uri="{FF2B5EF4-FFF2-40B4-BE49-F238E27FC236}">
                <a16:creationId xmlns:a16="http://schemas.microsoft.com/office/drawing/2014/main" id="{707BE459-776A-E675-6D4F-D814E7A9541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290304" y="1591056"/>
            <a:ext cx="2212848" cy="4114800"/>
          </a:xfrm>
          <a:prstGeom prst="rect">
            <a:avLst/>
          </a:prstGeom>
        </p:spPr>
      </p:pic>
      <p:sp>
        <p:nvSpPr>
          <p:cNvPr id="19" name="Text 5">
            <a:extLst>
              <a:ext uri="{FF2B5EF4-FFF2-40B4-BE49-F238E27FC236}">
                <a16:creationId xmlns:a16="http://schemas.microsoft.com/office/drawing/2014/main" id="{632D3DB2-A0EE-9AFD-DD21-2E5500BA7C56}"/>
              </a:ext>
            </a:extLst>
          </p:cNvPr>
          <p:cNvSpPr/>
          <p:nvPr/>
        </p:nvSpPr>
        <p:spPr>
          <a:xfrm>
            <a:off x="9253728" y="57424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trên app khi gió mạnh / mưa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1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 · KẾT QUẢ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kiểm thử hệ thống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64240" cy="548640"/>
          </a:xfrm>
          <a:prstGeom prst="roundRect">
            <a:avLst>
              <a:gd name="adj" fmla="val 15000"/>
            </a:avLst>
          </a:prstGeom>
          <a:solidFill>
            <a:srgbClr val="EAF4F6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3716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Ngưỡng kiểm tra:  </a:t>
            </a:r>
            <a:r>
              <a:rPr lang="en-US" sz="12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windStrong = 10 m/s   ·   lightDay = 62%   ·   lightNight = 35%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098280" y="1371600"/>
            <a:ext cx="2532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11/11  </a:t>
            </a:r>
            <a:r>
              <a:rPr lang="en-US" sz="1200" dirty="0">
                <a:solidFill>
                  <a:srgbClr val="E8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kịch bản ĐẠT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84832"/>
          <a:ext cx="11064240" cy="4224528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Kịch bản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2700" marB="127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Kết quả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2700" marB="127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Số lần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2700" marB="127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4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Gió 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2700" marB="127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Bạt đóng tức thì · cập nhật dashboard · phát cảnh báo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2700" marB="127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BA8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2700" marB="127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4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 mưa, gió an toàn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2700" marB="127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Bạt mở tức thì · cập nhật dashboard · phát cảnh báo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2700" marB="127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BA8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2700" marB="127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4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Ánh sáng mạnh, gió an toàn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2700" marB="127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Bạt mở tức thì · cập nhật dashboard · phát cảnh báo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2700" marB="127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BA8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2700" marB="127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4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 đêm không mưa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2700" marB="127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Bạt đóng tức thì · cập nhật dashboard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2700" marB="127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BA8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2700" marB="127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4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Chạm limit switch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2700" marB="127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Bạt dừng tức thì · cập nhật dashboard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2700" marB="127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BA8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2700" marB="127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4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Các nút nhấn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2700" marB="127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Đóng/Mở/AUTO tốt · motor chạy ngay sau khi bấm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2700" marB="127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BA8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6/6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2700" marB="127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4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Khi mất Wi-Fi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2700" marB="127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Vẫn hoạt động tốt dựa trên cảm biến &amp; nút nhấn vật lý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2700" marB="127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BA8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2700" marB="127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4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Timeout motor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2700" marB="127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Chạy đủ 20 giây tự dừng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2700" marB="127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BA8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2700" marB="127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4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Tự về AUTO sau 1 tiếng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2700" marB="127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kích hoạt lại điều khiển bạt theo cảm biến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2700" marB="127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BA8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2700" marB="127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4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Cập nhật ngưỡng từ ThingsBoard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2700" marB="127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Áp dụng ngưỡng mới, đóng bạt khi gió vượt ngưỡng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2700" marB="127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BA8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2700" marB="127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4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Mất điện &amp; có điện lại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2700" marB="127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đọc cảm biến + limit switch để quyết định đóng/mở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2700" marB="127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BA8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2700" marB="127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13230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1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5 · ĐÁNH GIÁ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điểm &amp; Nhược điểm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5394960" cy="4617720"/>
          </a:xfrm>
          <a:prstGeom prst="roundRect">
            <a:avLst>
              <a:gd name="adj" fmla="val 1782"/>
            </a:avLst>
          </a:prstGeom>
          <a:solidFill>
            <a:srgbClr val="EDF7F1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783080"/>
            <a:ext cx="713232" cy="713232"/>
          </a:xfrm>
          <a:prstGeom prst="ellipse">
            <a:avLst/>
          </a:prstGeom>
          <a:solidFill>
            <a:srgbClr val="2BA86F"/>
          </a:solidFill>
          <a:ln/>
        </p:spPr>
      </p:sp>
      <p:pic>
        <p:nvPicPr>
          <p:cNvPr id="6" name="Image 0" descr="icons/thumbs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821" y="1975653"/>
            <a:ext cx="328087" cy="328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19072" y="178308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A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điểm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77824" y="2734056"/>
            <a:ext cx="292608" cy="292608"/>
          </a:xfrm>
          <a:prstGeom prst="ellipse">
            <a:avLst/>
          </a:prstGeom>
          <a:solidFill>
            <a:srgbClr val="2BA86F"/>
          </a:solidFill>
          <a:ln/>
        </p:spPr>
      </p:sp>
      <p:pic>
        <p:nvPicPr>
          <p:cNvPr id="9" name="Image 1" descr="icons/checkb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828" y="2813060"/>
            <a:ext cx="134600" cy="134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660904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đa luồng. </a:t>
            </a: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 cho phép chạy song song — khi MQTT mất 5–10s kết nối lại, các task khác vẫn chạy bình thường.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877824" y="3401568"/>
            <a:ext cx="292608" cy="292608"/>
          </a:xfrm>
          <a:prstGeom prst="ellipse">
            <a:avLst/>
          </a:prstGeom>
          <a:solidFill>
            <a:srgbClr val="2BA86F"/>
          </a:solidFill>
          <a:ln/>
        </p:spPr>
      </p:sp>
      <p:pic>
        <p:nvPicPr>
          <p:cNvPr id="12" name="Image 2" descr="icons/checkb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828" y="3480572"/>
            <a:ext cx="134600" cy="134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3328416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độc lập Internet. </a:t>
            </a: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đóng/mở khi vượt ngưỡng an toàn rồi đồng bộ lên cloud.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877824" y="4069080"/>
            <a:ext cx="292608" cy="292608"/>
          </a:xfrm>
          <a:prstGeom prst="ellipse">
            <a:avLst/>
          </a:prstGeom>
          <a:solidFill>
            <a:srgbClr val="2BA86F"/>
          </a:solidFill>
          <a:ln/>
        </p:spPr>
      </p:sp>
      <p:pic>
        <p:nvPicPr>
          <p:cNvPr id="15" name="Image 3" descr="icons/checkb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828" y="4148084"/>
            <a:ext cx="134600" cy="134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80160" y="3995928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toàn cơ khí đa lớp. </a:t>
            </a: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700ms · timeout 20s · limit switch · ưu tiên gió mạnh.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877824" y="4736592"/>
            <a:ext cx="292608" cy="292608"/>
          </a:xfrm>
          <a:prstGeom prst="ellipse">
            <a:avLst/>
          </a:prstGeom>
          <a:solidFill>
            <a:srgbClr val="2BA86F"/>
          </a:solidFill>
          <a:ln/>
        </p:spPr>
      </p:sp>
      <p:pic>
        <p:nvPicPr>
          <p:cNvPr id="18" name="Image 4" descr="icons/checkb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828" y="4815596"/>
            <a:ext cx="134600" cy="1346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80160" y="466344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 kiện phổ thông. </a:t>
            </a: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ESP32, L298N, cảm biến, motor đều dễ mua, dễ thay thế.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877824" y="5404104"/>
            <a:ext cx="292608" cy="292608"/>
          </a:xfrm>
          <a:prstGeom prst="ellipse">
            <a:avLst/>
          </a:prstGeom>
          <a:solidFill>
            <a:srgbClr val="2BA86F"/>
          </a:solidFill>
          <a:ln/>
        </p:spPr>
      </p:sp>
      <p:pic>
        <p:nvPicPr>
          <p:cNvPr id="21" name="Image 5" descr="icons/checkb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828" y="5483108"/>
            <a:ext cx="134600" cy="1346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280160" y="5330952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nóng. </a:t>
            </a: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ngưỡng qua widget ThingsBoard, áp dụng ngay, không cần nạp lại firmware.</a:t>
            </a:r>
            <a:endParaRPr lang="en-US" sz="1150" dirty="0"/>
          </a:p>
        </p:txBody>
      </p:sp>
      <p:sp>
        <p:nvSpPr>
          <p:cNvPr id="23" name="Shape 15"/>
          <p:cNvSpPr/>
          <p:nvPr/>
        </p:nvSpPr>
        <p:spPr>
          <a:xfrm>
            <a:off x="6236208" y="1508760"/>
            <a:ext cx="5394960" cy="4617720"/>
          </a:xfrm>
          <a:prstGeom prst="roundRect">
            <a:avLst>
              <a:gd name="adj" fmla="val 1782"/>
            </a:avLst>
          </a:prstGeom>
          <a:solidFill>
            <a:srgbClr val="FBEFEE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6510528" y="1783080"/>
            <a:ext cx="713232" cy="713232"/>
          </a:xfrm>
          <a:prstGeom prst="ellipse">
            <a:avLst/>
          </a:prstGeom>
          <a:solidFill>
            <a:srgbClr val="CF5B52"/>
          </a:solidFill>
          <a:ln/>
        </p:spPr>
      </p:sp>
      <p:pic>
        <p:nvPicPr>
          <p:cNvPr id="25" name="Image 6" descr="icons/war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3101" y="1975653"/>
            <a:ext cx="328087" cy="328087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388352" y="178308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F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Nhược điểm</a:t>
            </a:r>
            <a:endParaRPr lang="en-US" sz="2000" dirty="0"/>
          </a:p>
        </p:txBody>
      </p:sp>
      <p:sp>
        <p:nvSpPr>
          <p:cNvPr id="27" name="Shape 18"/>
          <p:cNvSpPr/>
          <p:nvPr/>
        </p:nvSpPr>
        <p:spPr>
          <a:xfrm>
            <a:off x="6547104" y="2734056"/>
            <a:ext cx="292608" cy="292608"/>
          </a:xfrm>
          <a:prstGeom prst="ellipse">
            <a:avLst/>
          </a:prstGeom>
          <a:solidFill>
            <a:srgbClr val="CF5B52"/>
          </a:solidFill>
          <a:ln/>
        </p:spPr>
      </p:sp>
      <p:pic>
        <p:nvPicPr>
          <p:cNvPr id="28" name="Image 7" descr="icons/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6108" y="2813060"/>
            <a:ext cx="134600" cy="13460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949440" y="2660904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biến gió chưa chuẩn. </a:t>
            </a: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đổi tuyến tính từ ADC, chỉ dùng để kiểm tra thuật toán, chưa đo chính xác m/s.</a:t>
            </a:r>
            <a:endParaRPr lang="en-US" sz="1150" dirty="0"/>
          </a:p>
        </p:txBody>
      </p:sp>
      <p:sp>
        <p:nvSpPr>
          <p:cNvPr id="30" name="Shape 20"/>
          <p:cNvSpPr/>
          <p:nvPr/>
        </p:nvSpPr>
        <p:spPr>
          <a:xfrm>
            <a:off x="6547104" y="3401568"/>
            <a:ext cx="292608" cy="292608"/>
          </a:xfrm>
          <a:prstGeom prst="ellipse">
            <a:avLst/>
          </a:prstGeom>
          <a:solidFill>
            <a:srgbClr val="CF5B52"/>
          </a:solidFill>
          <a:ln/>
        </p:spPr>
      </p:sp>
      <p:pic>
        <p:nvPicPr>
          <p:cNvPr id="31" name="Image 8" descr="icons/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6108" y="3480572"/>
            <a:ext cx="134600" cy="13460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949440" y="3328416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biến mưa &amp; LDR dễ nhiễu. </a:t>
            </a: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Mưa dễ oxy hóa/bụi; LDR phụ thuộc vị trí lắp, cần hiệu chỉnh môi trường.</a:t>
            </a:r>
            <a:endParaRPr lang="en-US" sz="1150" dirty="0"/>
          </a:p>
        </p:txBody>
      </p:sp>
      <p:sp>
        <p:nvSpPr>
          <p:cNvPr id="33" name="Shape 22"/>
          <p:cNvSpPr/>
          <p:nvPr/>
        </p:nvSpPr>
        <p:spPr>
          <a:xfrm>
            <a:off x="6547104" y="4069080"/>
            <a:ext cx="292608" cy="292608"/>
          </a:xfrm>
          <a:prstGeom prst="ellipse">
            <a:avLst/>
          </a:prstGeom>
          <a:solidFill>
            <a:srgbClr val="CF5B52"/>
          </a:solidFill>
          <a:ln/>
        </p:spPr>
      </p:sp>
      <p:pic>
        <p:nvPicPr>
          <p:cNvPr id="34" name="Image 9" descr="icons/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6108" y="4148084"/>
            <a:ext cx="134600" cy="13460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6949440" y="3995928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có cảm biến vị trí. </a:t>
            </a: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biết vị trí bạt khi limit switch kích hoạt.</a:t>
            </a:r>
            <a:endParaRPr lang="en-US" sz="1150" dirty="0"/>
          </a:p>
        </p:txBody>
      </p:sp>
      <p:sp>
        <p:nvSpPr>
          <p:cNvPr id="36" name="Shape 24"/>
          <p:cNvSpPr/>
          <p:nvPr/>
        </p:nvSpPr>
        <p:spPr>
          <a:xfrm>
            <a:off x="6547104" y="4736592"/>
            <a:ext cx="292608" cy="292608"/>
          </a:xfrm>
          <a:prstGeom prst="ellipse">
            <a:avLst/>
          </a:prstGeom>
          <a:solidFill>
            <a:srgbClr val="CF5B52"/>
          </a:solidFill>
          <a:ln/>
        </p:spPr>
      </p:sp>
      <p:pic>
        <p:nvPicPr>
          <p:cNvPr id="37" name="Image 10" descr="icons/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6108" y="4815596"/>
            <a:ext cx="134600" cy="134600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6949440" y="466344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 cơ sụt áp (brownout). </a:t>
            </a: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tải cùng lúc có thể làm ESP32 tự khởi động lại.</a:t>
            </a:r>
            <a:endParaRPr lang="en-US" sz="1150" dirty="0"/>
          </a:p>
        </p:txBody>
      </p:sp>
      <p:sp>
        <p:nvSpPr>
          <p:cNvPr id="39" name="Shape 26"/>
          <p:cNvSpPr/>
          <p:nvPr/>
        </p:nvSpPr>
        <p:spPr>
          <a:xfrm>
            <a:off x="6547104" y="5404104"/>
            <a:ext cx="292608" cy="292608"/>
          </a:xfrm>
          <a:prstGeom prst="ellipse">
            <a:avLst/>
          </a:prstGeom>
          <a:solidFill>
            <a:srgbClr val="CF5B52"/>
          </a:solidFill>
          <a:ln/>
        </p:spPr>
      </p:sp>
      <p:pic>
        <p:nvPicPr>
          <p:cNvPr id="40" name="Image 11" descr="icons/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6108" y="5483108"/>
            <a:ext cx="134600" cy="134600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6949440" y="5330952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 thuộc Internet &amp; bảo mật. </a:t>
            </a: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Mất Wi-Fi thì dashboard không cập nhật; setInsecure() chưa tối ưu; dữ liệu lịch sử lớn.</a:t>
            </a:r>
            <a:endParaRPr lang="en-US" sz="1150" dirty="0"/>
          </a:p>
        </p:txBody>
      </p:sp>
      <p:sp>
        <p:nvSpPr>
          <p:cNvPr id="42" name="Text 28"/>
          <p:cNvSpPr/>
          <p:nvPr/>
        </p:nvSpPr>
        <p:spPr>
          <a:xfrm>
            <a:off x="113230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1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6 · </a:t>
            </a:r>
            <a:r>
              <a:rPr lang="vi-VN" sz="1250" b="1" kern="0" spc="250" dirty="0">
                <a:solidFill>
                  <a:srgbClr val="1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hướng nâng cấp để đưa hệ thống vào triển khai thực tế: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394960" cy="1298448"/>
          </a:xfrm>
          <a:prstGeom prst="roundRect">
            <a:avLst>
              <a:gd name="adj" fmla="val 6338"/>
            </a:avLst>
          </a:prstGeom>
          <a:solidFill>
            <a:srgbClr val="F4F8FB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03704"/>
            <a:ext cx="713232" cy="713232"/>
          </a:xfrm>
          <a:prstGeom prst="ellipse">
            <a:avLst/>
          </a:prstGeom>
          <a:solidFill>
            <a:srgbClr val="1497AC"/>
          </a:solidFill>
          <a:ln/>
        </p:spPr>
      </p:sp>
      <p:pic>
        <p:nvPicPr>
          <p:cNvPr id="7" name="Image 0" descr="icons/mo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533" y="2396277"/>
            <a:ext cx="328087" cy="3280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47488" y="202082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C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737360" y="20756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chuẩn cảm biến gió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737360" y="2441448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thiết bị đo chuẩn để nâng độ chính xác và độ tin cậy cho quyết định bảo vệ cơ khí.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36208" y="1874520"/>
            <a:ext cx="5394960" cy="1298448"/>
          </a:xfrm>
          <a:prstGeom prst="roundRect">
            <a:avLst>
              <a:gd name="adj" fmla="val 6338"/>
            </a:avLst>
          </a:prstGeom>
          <a:solidFill>
            <a:srgbClr val="F4F8FB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92240" y="2203704"/>
            <a:ext cx="713232" cy="713232"/>
          </a:xfrm>
          <a:prstGeom prst="ellipse">
            <a:avLst/>
          </a:prstGeom>
          <a:solidFill>
            <a:srgbClr val="F2A33C"/>
          </a:solidFill>
          <a:ln/>
        </p:spPr>
      </p:sp>
      <p:pic>
        <p:nvPicPr>
          <p:cNvPr id="13" name="Image 1" descr="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813" y="2396277"/>
            <a:ext cx="328087" cy="32808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716768" y="202082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C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7406640" y="20756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 kết nối TLS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7406640" y="2441448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CA certificate thay cho setInsecure() để bảo mật kết nối MQTT/TLS.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66928" y="3429000"/>
            <a:ext cx="5394960" cy="1298448"/>
          </a:xfrm>
          <a:prstGeom prst="roundRect">
            <a:avLst>
              <a:gd name="adj" fmla="val 6338"/>
            </a:avLst>
          </a:prstGeom>
          <a:solidFill>
            <a:srgbClr val="F4F8FB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2960" y="3758184"/>
            <a:ext cx="713232" cy="713232"/>
          </a:xfrm>
          <a:prstGeom prst="ellipse">
            <a:avLst/>
          </a:prstGeom>
          <a:solidFill>
            <a:srgbClr val="1E4A73"/>
          </a:solidFill>
          <a:ln/>
        </p:spPr>
      </p:sp>
      <p:pic>
        <p:nvPicPr>
          <p:cNvPr id="19" name="Image 2" descr="icons/sy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533" y="3950757"/>
            <a:ext cx="328087" cy="32808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47488" y="357530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C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1737360" y="36301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&amp; cảm biến vị trí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1737360" y="3995928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Bổ sung cập nhật từ xa (OTA) và encoder để biết phần trăm đóng/mở của mái che.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236208" y="3429000"/>
            <a:ext cx="5394960" cy="1298448"/>
          </a:xfrm>
          <a:prstGeom prst="roundRect">
            <a:avLst>
              <a:gd name="adj" fmla="val 6338"/>
            </a:avLst>
          </a:prstGeom>
          <a:solidFill>
            <a:srgbClr val="F4F8FB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92240" y="3758184"/>
            <a:ext cx="713232" cy="713232"/>
          </a:xfrm>
          <a:prstGeom prst="ellipse">
            <a:avLst/>
          </a:prstGeom>
          <a:solidFill>
            <a:srgbClr val="2BA86F"/>
          </a:solidFill>
          <a:ln/>
        </p:spPr>
      </p:sp>
      <p:pic>
        <p:nvPicPr>
          <p:cNvPr id="25" name="Image 3" descr="icons/mobi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4813" y="3950757"/>
            <a:ext cx="328087" cy="32808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716768" y="357530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C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Text 21"/>
          <p:cNvSpPr/>
          <p:nvPr/>
        </p:nvSpPr>
        <p:spPr>
          <a:xfrm>
            <a:off x="7406640" y="36301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riêng</a:t>
            </a:r>
            <a:endParaRPr lang="en-US" sz="1550" dirty="0"/>
          </a:p>
        </p:txBody>
      </p:sp>
      <p:sp>
        <p:nvSpPr>
          <p:cNvPr id="28" name="Text 22"/>
          <p:cNvSpPr/>
          <p:nvPr/>
        </p:nvSpPr>
        <p:spPr>
          <a:xfrm>
            <a:off x="7406640" y="3995928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thiết kế giao diện, cảnh báo và quản lý dữ liệu thay vì phụ thuộc hoàn toàn ThingsBoard.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66928" y="4983480"/>
            <a:ext cx="11064240" cy="1298448"/>
          </a:xfrm>
          <a:prstGeom prst="roundRect">
            <a:avLst>
              <a:gd name="adj" fmla="val 6338"/>
            </a:avLst>
          </a:prstGeom>
          <a:solidFill>
            <a:srgbClr val="F4F8FB"/>
          </a:solidFill>
          <a:ln w="12700">
            <a:solidFill>
              <a:srgbClr val="E2ECF3"/>
            </a:solidFill>
            <a:prstDash val="solid"/>
          </a:ln>
          <a:effectLst>
            <a:outerShdw blurRad="88900" dist="25400" dir="5400000" algn="bl" rotWithShape="0">
              <a:srgbClr val="9DB4C7">
                <a:alpha val="2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822960" y="5312664"/>
            <a:ext cx="713232" cy="713232"/>
          </a:xfrm>
          <a:prstGeom prst="ellipse">
            <a:avLst/>
          </a:prstGeom>
          <a:solidFill>
            <a:srgbClr val="0E7A8C"/>
          </a:solidFill>
          <a:ln/>
        </p:spPr>
      </p:sp>
      <p:pic>
        <p:nvPicPr>
          <p:cNvPr id="31" name="Image 4" descr="icons/plu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533" y="5505237"/>
            <a:ext cx="328087" cy="328087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0716768" y="512978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C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33" name="Text 26"/>
          <p:cNvSpPr/>
          <p:nvPr/>
        </p:nvSpPr>
        <p:spPr>
          <a:xfrm>
            <a:off x="1737360" y="5184648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cứng bền hơn</a:t>
            </a:r>
            <a:endParaRPr lang="en-US" sz="1550" dirty="0"/>
          </a:p>
        </p:txBody>
      </p:sp>
      <p:sp>
        <p:nvSpPr>
          <p:cNvPr id="34" name="Text 27"/>
          <p:cNvSpPr/>
          <p:nvPr/>
        </p:nvSpPr>
        <p:spPr>
          <a:xfrm>
            <a:off x="1737360" y="5550408"/>
            <a:ext cx="9646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Vỏ chống nước, chống bụi, tản nhiệt và mạch nguồn riêng cho motor.</a:t>
            </a:r>
            <a:endParaRPr lang="en-US" sz="1150" dirty="0"/>
          </a:p>
        </p:txBody>
      </p:sp>
      <p:sp>
        <p:nvSpPr>
          <p:cNvPr id="35" name="Text 28"/>
          <p:cNvSpPr/>
          <p:nvPr/>
        </p:nvSpPr>
        <p:spPr>
          <a:xfrm>
            <a:off x="113230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20240" y="4023360"/>
            <a:ext cx="5486400" cy="5486400"/>
          </a:xfrm>
          <a:prstGeom prst="ellipse">
            <a:avLst/>
          </a:prstGeom>
          <a:solidFill>
            <a:srgbClr val="16395D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-2194560"/>
            <a:ext cx="5669280" cy="5669280"/>
          </a:xfrm>
          <a:prstGeom prst="ellipse">
            <a:avLst/>
          </a:prstGeom>
          <a:solidFill>
            <a:srgbClr val="1E4A73">
              <a:alpha val="4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526959"/>
            <a:ext cx="10235953" cy="15820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kern="0" spc="300" dirty="0">
                <a:solidFill>
                  <a:srgbClr val="5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THẦY VÀ CÁC BẠN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914400" y="31089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đã lắng nghe!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914400" y="406908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bạt che thông minh sử dụng ESP32 &amp; ThingsBoard Cloud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914400" y="5989320"/>
            <a:ext cx="10360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22 · D22VHCNPM01  —  Đoàn Văn Chức · Vũ Hoàng Tuấn Kiệt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2363</Words>
  <Application>Microsoft Office PowerPoint</Application>
  <PresentationFormat>Widescreen</PresentationFormat>
  <Paragraphs>349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thống bạt che thông minh - ESP32 &amp; ThingsBoard Cloud</dc:title>
  <dc:subject>PptxGenJS Presentation</dc:subject>
  <dc:creator>Nhóm 22 - D22VHCNPM01</dc:creator>
  <cp:lastModifiedBy>Vu Hoang Tuan Kiet D22VHCN03</cp:lastModifiedBy>
  <cp:revision>7</cp:revision>
  <dcterms:created xsi:type="dcterms:W3CDTF">2026-06-11T10:42:30Z</dcterms:created>
  <dcterms:modified xsi:type="dcterms:W3CDTF">2026-06-12T01:56:05Z</dcterms:modified>
</cp:coreProperties>
</file>